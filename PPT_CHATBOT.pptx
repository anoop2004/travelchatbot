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5" r:id="rId3"/>
  </p:sldMasterIdLst>
  <p:notesMasterIdLst>
    <p:notesMasterId r:id="rId13"/>
  </p:notesMasterIdLst>
  <p:handoutMasterIdLst>
    <p:handoutMasterId r:id="rId14"/>
  </p:handoutMasterIdLst>
  <p:sldIdLst>
    <p:sldId id="277" r:id="rId4"/>
    <p:sldId id="399" r:id="rId5"/>
    <p:sldId id="400" r:id="rId6"/>
    <p:sldId id="408" r:id="rId7"/>
    <p:sldId id="409" r:id="rId8"/>
    <p:sldId id="410" r:id="rId9"/>
    <p:sldId id="402" r:id="rId10"/>
    <p:sldId id="403" r:id="rId11"/>
    <p:sldId id="41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 autoAdjust="0"/>
  </p:normalViewPr>
  <p:slideViewPr>
    <p:cSldViewPr snapToGrid="0" showGuides="1">
      <p:cViewPr>
        <p:scale>
          <a:sx n="66" d="100"/>
          <a:sy n="66" d="100"/>
        </p:scale>
        <p:origin x="1282" y="509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-3168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-1" fmla="*/ 19050 w 12211050"/>
              <a:gd name="connsiteY0-2" fmla="*/ 0 h 4133850"/>
              <a:gd name="connsiteX1-3" fmla="*/ 12211050 w 12211050"/>
              <a:gd name="connsiteY1-4" fmla="*/ 0 h 4133850"/>
              <a:gd name="connsiteX2-5" fmla="*/ 12211050 w 12211050"/>
              <a:gd name="connsiteY2-6" fmla="*/ 4133850 h 4133850"/>
              <a:gd name="connsiteX3-7" fmla="*/ 0 w 12211050"/>
              <a:gd name="connsiteY3-8" fmla="*/ 3219450 h 4133850"/>
              <a:gd name="connsiteX4-9" fmla="*/ 19050 w 12211050"/>
              <a:gd name="connsiteY4-10" fmla="*/ 0 h 4133850"/>
              <a:gd name="connsiteX0-11" fmla="*/ 19050 w 12211050"/>
              <a:gd name="connsiteY0-12" fmla="*/ 0 h 4438650"/>
              <a:gd name="connsiteX1-13" fmla="*/ 12211050 w 12211050"/>
              <a:gd name="connsiteY1-14" fmla="*/ 0 h 4438650"/>
              <a:gd name="connsiteX2-15" fmla="*/ 12211050 w 12211050"/>
              <a:gd name="connsiteY2-16" fmla="*/ 4438650 h 4438650"/>
              <a:gd name="connsiteX3-17" fmla="*/ 0 w 12211050"/>
              <a:gd name="connsiteY3-18" fmla="*/ 3219450 h 4438650"/>
              <a:gd name="connsiteX4-19" fmla="*/ 19050 w 12211050"/>
              <a:gd name="connsiteY4-20" fmla="*/ 0 h 44386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-1" fmla="*/ 19050 w 12211050"/>
              <a:gd name="connsiteY0-2" fmla="*/ 0 h 4133850"/>
              <a:gd name="connsiteX1-3" fmla="*/ 12211050 w 12211050"/>
              <a:gd name="connsiteY1-4" fmla="*/ 0 h 4133850"/>
              <a:gd name="connsiteX2-5" fmla="*/ 12211050 w 12211050"/>
              <a:gd name="connsiteY2-6" fmla="*/ 4133850 h 4133850"/>
              <a:gd name="connsiteX3-7" fmla="*/ 0 w 12211050"/>
              <a:gd name="connsiteY3-8" fmla="*/ 3219450 h 4133850"/>
              <a:gd name="connsiteX4-9" fmla="*/ 19050 w 12211050"/>
              <a:gd name="connsiteY4-10" fmla="*/ 0 h 4133850"/>
              <a:gd name="connsiteX0-11" fmla="*/ 19050 w 12211050"/>
              <a:gd name="connsiteY0-12" fmla="*/ 0 h 4438650"/>
              <a:gd name="connsiteX1-13" fmla="*/ 12211050 w 12211050"/>
              <a:gd name="connsiteY1-14" fmla="*/ 0 h 4438650"/>
              <a:gd name="connsiteX2-15" fmla="*/ 12211050 w 12211050"/>
              <a:gd name="connsiteY2-16" fmla="*/ 4438650 h 4438650"/>
              <a:gd name="connsiteX3-17" fmla="*/ 0 w 12211050"/>
              <a:gd name="connsiteY3-18" fmla="*/ 3219450 h 4438650"/>
              <a:gd name="connsiteX4-19" fmla="*/ 19050 w 12211050"/>
              <a:gd name="connsiteY4-20" fmla="*/ 0 h 44386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5" b="0" baseline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5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5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5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5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5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5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hf hdr="0" ftr="0" dt="0"/>
  <p:txStyles>
    <p:titleStyle>
      <a:lvl1pPr algn="ctr" defTabSz="1219200" rtl="0" eaLnBrk="1" latinLnBrk="1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1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053794"/>
            <a:ext cx="12196420" cy="43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/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/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Right Triangle 36"/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698031" y="1476029"/>
            <a:ext cx="6829425" cy="2797237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Submitted in the partial fulfillment for the award of the degree of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BACHELOR OF ENGINEERING </a:t>
            </a:r>
            <a:endParaRPr lang="en-US" sz="2400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 IN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BE –CSE AIT (AIML)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443345" y="6014156"/>
            <a:ext cx="5882609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AIT-CSE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747220" y="366864"/>
            <a:ext cx="8731046" cy="5219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altLang="en-GB" sz="2800" b="1" i="0" dirty="0" smtClean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A NLP POWERED TRAVEL COMPANION CHATBOT</a:t>
            </a:r>
            <a:endParaRPr lang="en-US" sz="2800" b="1" dirty="0">
              <a:latin typeface="Raleway ExtraBold" pitchFamily="34" charset="-52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83044" y="4425075"/>
            <a:ext cx="659513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Submitted by: </a:t>
            </a:r>
          </a:p>
          <a:p>
            <a:r>
              <a:rPr lang="en-US" altLang="en-US" sz="2000" dirty="0" err="1" smtClean="0"/>
              <a:t>Anoop</a:t>
            </a:r>
            <a:r>
              <a:rPr lang="en-US" altLang="en-US" sz="2000" dirty="0" smtClean="0"/>
              <a:t> Kaur 22BAI70096</a:t>
            </a:r>
          </a:p>
          <a:p>
            <a:r>
              <a:rPr lang="en-US" sz="2000" dirty="0" err="1" smtClean="0"/>
              <a:t>Ankitaa</a:t>
            </a:r>
            <a:r>
              <a:rPr lang="en-US" sz="2000" dirty="0" smtClean="0"/>
              <a:t> </a:t>
            </a:r>
            <a:r>
              <a:rPr lang="en-US" sz="2000" dirty="0" err="1" smtClean="0"/>
              <a:t>Pupneja</a:t>
            </a:r>
            <a:r>
              <a:rPr lang="en-US" sz="2000" smtClean="0"/>
              <a:t> 22BAI70066</a:t>
            </a:r>
            <a:endParaRPr lang="en-US" sz="2000" dirty="0"/>
          </a:p>
          <a:p>
            <a:r>
              <a:rPr lang="en-US" sz="2000" dirty="0"/>
              <a:t>                          </a:t>
            </a:r>
          </a:p>
          <a:p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8133347" y="4681578"/>
            <a:ext cx="2971034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Under the Supervision of: </a:t>
            </a:r>
          </a:p>
          <a:p>
            <a:r>
              <a:rPr lang="en-US" sz="2000" dirty="0" err="1" smtClean="0"/>
              <a:t>Uzzal</a:t>
            </a:r>
            <a:r>
              <a:rPr lang="en-US" sz="2000" dirty="0" smtClean="0"/>
              <a:t> </a:t>
            </a:r>
            <a:r>
              <a:rPr lang="en-US" sz="2000" dirty="0" err="1" smtClean="0"/>
              <a:t>Mondal</a:t>
            </a:r>
            <a:endParaRPr lang="en-US" sz="2000" dirty="0"/>
          </a:p>
          <a:p>
            <a:endParaRPr 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676" y="365126"/>
            <a:ext cx="10515600" cy="976206"/>
          </a:xfrm>
        </p:spPr>
        <p:txBody>
          <a:bodyPr/>
          <a:lstStyle/>
          <a:p>
            <a:r>
              <a:rPr lang="en-US" b="1" dirty="0">
                <a:latin typeface="+mn-lt"/>
                <a:cs typeface="Times New Roman" panose="02020603050405020304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5321273"/>
          </a:xfrm>
        </p:spPr>
        <p:txBody>
          <a:bodyPr>
            <a:normAutofit/>
          </a:bodyPr>
          <a:lstStyle/>
          <a:p>
            <a:r>
              <a:rPr lang="en-US" dirty="0">
                <a:cs typeface="Times New Roman" panose="02020603050405020304"/>
              </a:rPr>
              <a:t>Introduction to Project</a:t>
            </a:r>
          </a:p>
          <a:p>
            <a:r>
              <a:rPr lang="en-US" dirty="0">
                <a:cs typeface="Times New Roman" panose="02020603050405020304"/>
              </a:rPr>
              <a:t>Scope of the Project</a:t>
            </a:r>
          </a:p>
          <a:p>
            <a:r>
              <a:rPr lang="en-US" dirty="0">
                <a:cs typeface="Times New Roman" panose="02020603050405020304"/>
              </a:rPr>
              <a:t>Problem Formulation</a:t>
            </a:r>
          </a:p>
          <a:p>
            <a:r>
              <a:rPr lang="en-US" dirty="0">
                <a:cs typeface="Times New Roman" panose="02020603050405020304"/>
              </a:rPr>
              <a:t>Objectives of the work </a:t>
            </a:r>
          </a:p>
          <a:p>
            <a:r>
              <a:rPr lang="en-US" dirty="0">
                <a:cs typeface="Times New Roman" panose="02020603050405020304"/>
              </a:rPr>
              <a:t>Methodology used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07"/>
            <a:ext cx="10515600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Introduction to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64236"/>
            <a:ext cx="10515600" cy="5023839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Our </a:t>
            </a:r>
            <a:r>
              <a:rPr lang="en-US" sz="2400" b="1" dirty="0" err="1"/>
              <a:t>Chatbot</a:t>
            </a:r>
            <a:r>
              <a:rPr lang="en-US" sz="2400" b="1" dirty="0"/>
              <a:t> Travel Platform</a:t>
            </a:r>
            <a:r>
              <a:rPr lang="en-US" sz="2400" dirty="0"/>
              <a:t> is designed to simplify travel planning by providing personalized recommendations and real-time assistance.</a:t>
            </a:r>
            <a:br>
              <a:rPr lang="en-US" sz="2400" dirty="0"/>
            </a:br>
            <a:r>
              <a:rPr lang="en-US" sz="2400" dirty="0"/>
              <a:t>It offers detailed analytics on user interactions, including most searched destinations, booking preferences, and popular travel periods, all through an intuitive dashboard.</a:t>
            </a:r>
          </a:p>
          <a:p>
            <a:r>
              <a:rPr lang="en-US" sz="2400" dirty="0"/>
              <a:t>The </a:t>
            </a:r>
            <a:r>
              <a:rPr lang="en-US" sz="2400" dirty="0" err="1"/>
              <a:t>chatbot</a:t>
            </a:r>
            <a:r>
              <a:rPr lang="en-US" sz="2400" dirty="0"/>
              <a:t> uses advanced natural language processing (NLP) and smart recommendation algorithms to ensure accurate, relevant, and dynamic responses tailored to each user.</a:t>
            </a:r>
          </a:p>
          <a:p>
            <a:r>
              <a:rPr lang="en-US" sz="2400" dirty="0"/>
              <a:t>With a clean and user-friendly interface, accessibility features, and seamless integration with third-party travel services, our platform enhances the travel planning experience.</a:t>
            </a:r>
          </a:p>
          <a:p>
            <a:r>
              <a:rPr lang="en-US" sz="2400" dirty="0"/>
              <a:t>By leveraging machine learning for predictive insights, it helps users discover optimized travel options and offers personalized deals based on behavior and preferences.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4164" y="1321246"/>
            <a:ext cx="5806786" cy="5536754"/>
          </a:xfrm>
        </p:spPr>
        <p:txBody>
          <a:bodyPr>
            <a:normAutofit fontScale="95000"/>
          </a:bodyPr>
          <a:lstStyle/>
          <a:p>
            <a:r>
              <a:rPr lang="en-US" sz="1600" b="1" dirty="0"/>
              <a:t>Natural Language Processing (NLP):</a:t>
            </a:r>
            <a:endParaRPr lang="en-US" sz="1600" dirty="0"/>
          </a:p>
          <a:p>
            <a:r>
              <a:rPr lang="en-US" sz="1600" b="1" dirty="0" err="1"/>
              <a:t>spaCy</a:t>
            </a:r>
            <a:r>
              <a:rPr lang="en-US" sz="1600" dirty="0"/>
              <a:t> – Used for </a:t>
            </a:r>
            <a:r>
              <a:rPr lang="en-US" sz="1600" b="1" dirty="0"/>
              <a:t>Named Entity Recognition (NER)</a:t>
            </a:r>
            <a:r>
              <a:rPr lang="en-US" sz="1600" dirty="0"/>
              <a:t> to extract travel-related entities such as destinations, dates, and other travel-specific information.</a:t>
            </a:r>
          </a:p>
          <a:p>
            <a:r>
              <a:rPr lang="en-US" sz="1600" b="1" dirty="0"/>
              <a:t>NLTK</a:t>
            </a:r>
            <a:r>
              <a:rPr lang="en-US" sz="1600" dirty="0"/>
              <a:t> – Used for </a:t>
            </a:r>
            <a:r>
              <a:rPr lang="en-US" sz="1600" b="1" dirty="0"/>
              <a:t>text preprocessing</a:t>
            </a:r>
            <a:r>
              <a:rPr lang="en-US" sz="1600" dirty="0"/>
              <a:t> like tokenization, </a:t>
            </a:r>
            <a:r>
              <a:rPr lang="en-US" sz="1600" dirty="0" err="1"/>
              <a:t>stopword</a:t>
            </a:r>
            <a:r>
              <a:rPr lang="en-US" sz="1600" dirty="0"/>
              <a:t> removal, and stemming to prepare data for better understanding by the NLP model.</a:t>
            </a:r>
          </a:p>
          <a:p>
            <a:r>
              <a:rPr lang="en-US" sz="1600" b="1" dirty="0"/>
              <a:t>Intent Recognition Models</a:t>
            </a:r>
            <a:r>
              <a:rPr lang="en-US" sz="1600" dirty="0"/>
              <a:t> – Simple </a:t>
            </a:r>
            <a:r>
              <a:rPr lang="en-US" sz="1600" b="1" dirty="0"/>
              <a:t>rule-based or machine learning models</a:t>
            </a:r>
            <a:r>
              <a:rPr lang="en-US" sz="1600" dirty="0"/>
              <a:t> (like Decision Trees or SVM) to identify the intent of user queries, such as booking flights, hotels, or providing travel advice</a:t>
            </a:r>
            <a:r>
              <a:rPr lang="en-US" sz="1600" dirty="0" smtClean="0"/>
              <a:t>.</a:t>
            </a:r>
            <a:endParaRPr lang="en-US" sz="1600" dirty="0"/>
          </a:p>
          <a:p>
            <a:endParaRPr lang="en-US" sz="1600" dirty="0" smtClean="0"/>
          </a:p>
          <a:p>
            <a:r>
              <a:rPr lang="en-US" sz="1600" b="1" dirty="0"/>
              <a:t>Personalized Recommendations </a:t>
            </a:r>
            <a:r>
              <a:rPr lang="en-US" sz="1600" dirty="0"/>
              <a:t>– Uses machine learning to offer personalized travel recommendations based on user preferences and past interactions.</a:t>
            </a:r>
          </a:p>
          <a:p>
            <a:r>
              <a:rPr lang="en-US" sz="1600" b="1" dirty="0"/>
              <a:t>Machine Learning </a:t>
            </a:r>
            <a:r>
              <a:rPr lang="en-US" sz="1600" b="1" dirty="0" smtClean="0"/>
              <a:t>:</a:t>
            </a:r>
          </a:p>
          <a:p>
            <a:pPr marL="0" indent="0">
              <a:buNone/>
            </a:pPr>
            <a:r>
              <a:rPr lang="en-US" sz="1600" dirty="0" smtClean="0"/>
              <a:t>      </a:t>
            </a:r>
            <a:r>
              <a:rPr lang="en-US" sz="1600" dirty="0" err="1" smtClean="0"/>
              <a:t>scikit</a:t>
            </a:r>
            <a:r>
              <a:rPr lang="en-US" sz="1600" dirty="0" smtClean="0"/>
              <a:t>-learn </a:t>
            </a:r>
            <a:r>
              <a:rPr lang="en-US" sz="1600" dirty="0"/>
              <a:t>– For basic machine learning tasks like intent classification </a:t>
            </a:r>
            <a:r>
              <a:rPr lang="en-US" sz="1600" dirty="0" smtClean="0"/>
              <a:t>and       clustering </a:t>
            </a:r>
            <a:r>
              <a:rPr lang="en-US" sz="1600" dirty="0"/>
              <a:t>user queries for better categorization.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25236" y="251899"/>
            <a:ext cx="45540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INTRODUCTION</a:t>
            </a:r>
            <a:r>
              <a:rPr lang="en-US" dirty="0"/>
              <a:t> (cont.)</a:t>
            </a:r>
            <a:endParaRPr lang="en-IN" dirty="0"/>
          </a:p>
        </p:txBody>
      </p:sp>
      <p:pic>
        <p:nvPicPr>
          <p:cNvPr id="2050" name="Picture 2" descr="100 Best Programming Languages in 2025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25" y="1609725"/>
            <a:ext cx="3886200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Scope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7482"/>
            <a:ext cx="10515600" cy="4913251"/>
          </a:xfrm>
        </p:spPr>
        <p:txBody>
          <a:bodyPr>
            <a:normAutofit fontScale="85000" lnSpcReduction="10000"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NLP Travel Companion</a:t>
            </a:r>
            <a:r>
              <a:rPr lang="en-US" sz="2400" dirty="0"/>
              <a:t> uses </a:t>
            </a:r>
            <a:r>
              <a:rPr lang="en-US" sz="2400" b="1" dirty="0"/>
              <a:t>Natural Language Processing</a:t>
            </a:r>
            <a:r>
              <a:rPr lang="en-US" sz="2400" dirty="0"/>
              <a:t> to provide personalized travel assistance, going beyond basic queries to offer tailored recommendations.</a:t>
            </a:r>
          </a:p>
          <a:p>
            <a:r>
              <a:rPr lang="en-US" sz="2400" b="1" dirty="0"/>
              <a:t>Query Understanding</a:t>
            </a:r>
            <a:r>
              <a:rPr lang="en-US" sz="2400" dirty="0"/>
              <a:t>: Analyzes user input with </a:t>
            </a:r>
            <a:r>
              <a:rPr lang="en-US" sz="2400" b="1" dirty="0"/>
              <a:t>intent classification</a:t>
            </a:r>
            <a:r>
              <a:rPr lang="en-US" sz="2400" dirty="0"/>
              <a:t> and </a:t>
            </a:r>
            <a:r>
              <a:rPr lang="en-US" sz="2400" b="1" dirty="0"/>
              <a:t>NER</a:t>
            </a:r>
            <a:r>
              <a:rPr lang="en-US" sz="2400" dirty="0"/>
              <a:t> for accurate responses.</a:t>
            </a:r>
          </a:p>
          <a:p>
            <a:r>
              <a:rPr lang="en-US" sz="2400" b="1" dirty="0"/>
              <a:t>Personalized Recommendations</a:t>
            </a:r>
            <a:r>
              <a:rPr lang="en-US" sz="2400" dirty="0"/>
              <a:t>: Suggests destinations, flights, and hotels based on user preferences.</a:t>
            </a:r>
          </a:p>
          <a:p>
            <a:r>
              <a:rPr lang="en-US" sz="2400" b="1" dirty="0"/>
              <a:t>Real-time Data Retrieval</a:t>
            </a:r>
            <a:r>
              <a:rPr lang="en-US" sz="2400" dirty="0"/>
              <a:t>: Fetches live travel data through </a:t>
            </a:r>
            <a:r>
              <a:rPr lang="en-US" sz="2400" b="1" dirty="0"/>
              <a:t>API integrations</a:t>
            </a:r>
            <a:r>
              <a:rPr lang="en-US" sz="2400" dirty="0"/>
              <a:t> for up-to-date information.</a:t>
            </a:r>
          </a:p>
          <a:p>
            <a:r>
              <a:rPr lang="en-US" sz="2400" b="1" dirty="0"/>
              <a:t>Multi-functional Assistance</a:t>
            </a:r>
            <a:r>
              <a:rPr lang="en-US" sz="2400" dirty="0"/>
              <a:t>: Assists with tasks like booking flights and suggesting tourist attractions.</a:t>
            </a:r>
          </a:p>
          <a:p>
            <a:r>
              <a:rPr lang="en-US" sz="2400" b="1" dirty="0"/>
              <a:t>Scalability</a:t>
            </a:r>
            <a:r>
              <a:rPr lang="en-US" sz="2400" dirty="0"/>
              <a:t>: Designed to handle high traffic, suitable for both individual users and organizations.</a:t>
            </a:r>
          </a:p>
          <a:p>
            <a:r>
              <a:rPr lang="en-US" sz="2400" b="1" dirty="0"/>
              <a:t>Future Enhancements:</a:t>
            </a:r>
          </a:p>
          <a:p>
            <a:r>
              <a:rPr lang="en-US" sz="2400" b="1" dirty="0"/>
              <a:t>Voice Integration</a:t>
            </a:r>
            <a:r>
              <a:rPr lang="en-US" sz="2400" dirty="0"/>
              <a:t> for hands-free assistance.</a:t>
            </a:r>
          </a:p>
          <a:p>
            <a:r>
              <a:rPr lang="en-US" sz="2400" b="1" dirty="0"/>
              <a:t>Multi-language Support</a:t>
            </a:r>
            <a:r>
              <a:rPr lang="en-US" sz="2400" dirty="0"/>
              <a:t> for wider accessibility.</a:t>
            </a:r>
          </a:p>
          <a:p>
            <a:r>
              <a:rPr lang="en-US" sz="2400" b="1" dirty="0"/>
              <a:t>AI-Powered Optimization</a:t>
            </a:r>
            <a:r>
              <a:rPr lang="en-US" sz="2400" dirty="0"/>
              <a:t> for personalized travel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503"/>
            <a:ext cx="10515600" cy="1325563"/>
          </a:xfrm>
        </p:spPr>
        <p:txBody>
          <a:bodyPr/>
          <a:lstStyle/>
          <a:p>
            <a:r>
              <a:rPr lang="en-IN" b="1" dirty="0">
                <a:latin typeface="+mn-lt"/>
              </a:rPr>
              <a:t>Problem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6644" y="1424066"/>
            <a:ext cx="6707155" cy="4752897"/>
          </a:xfrm>
        </p:spPr>
        <p:txBody>
          <a:bodyPr>
            <a:normAutofit fontScale="90000" lnSpcReduction="10000"/>
          </a:bodyPr>
          <a:lstStyle/>
          <a:p>
            <a:r>
              <a:rPr lang="en-US" sz="2400" dirty="0"/>
              <a:t>Users face challenges in finding personalized, real-time travel information through traditional systems. The key issues include:</a:t>
            </a:r>
          </a:p>
          <a:p>
            <a:r>
              <a:rPr lang="en-US" sz="2400" b="1" dirty="0"/>
              <a:t>Understanding Queries</a:t>
            </a:r>
            <a:r>
              <a:rPr lang="en-US" sz="2400" dirty="0"/>
              <a:t>: Traditional systems struggle to interpret complex, travel-related user queries.</a:t>
            </a:r>
          </a:p>
          <a:p>
            <a:r>
              <a:rPr lang="en-US" sz="2400" b="1" dirty="0"/>
              <a:t>Personalization</a:t>
            </a:r>
            <a:r>
              <a:rPr lang="en-US" sz="2400" dirty="0"/>
              <a:t>: Generic recommendations fail to cater to individual preferences.</a:t>
            </a:r>
          </a:p>
          <a:p>
            <a:r>
              <a:rPr lang="en-US" sz="2400" b="1" dirty="0"/>
              <a:t>Real-time Data</a:t>
            </a:r>
            <a:r>
              <a:rPr lang="en-US" sz="2400" dirty="0"/>
              <a:t>: Lack of integration with live travel data like flight and hotel availability.</a:t>
            </a:r>
          </a:p>
          <a:p>
            <a:r>
              <a:rPr lang="en-US" sz="2400" b="1" dirty="0"/>
              <a:t>Scalability</a:t>
            </a:r>
            <a:r>
              <a:rPr lang="en-US" sz="2400" dirty="0"/>
              <a:t>: Difficulty handling high volumes of user queries effectively.</a:t>
            </a:r>
          </a:p>
          <a:p>
            <a:r>
              <a:rPr lang="en-US" sz="2400" dirty="0"/>
              <a:t>Thus, there’s a need for an </a:t>
            </a:r>
            <a:r>
              <a:rPr lang="en-US" sz="2400" b="1" dirty="0"/>
              <a:t>NLP-powered Travel Companion</a:t>
            </a:r>
            <a:r>
              <a:rPr lang="en-US" sz="2400" dirty="0"/>
              <a:t> that understands user input, provides personalized travel suggestions, and integrates real-time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6</a:t>
            </a:fld>
            <a:endParaRPr lang="en-US"/>
          </a:p>
        </p:txBody>
      </p:sp>
      <p:pic>
        <p:nvPicPr>
          <p:cNvPr id="4098" name="Picture 2" descr="7 Steps to Problem Solv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10" y="2015411"/>
            <a:ext cx="4460033" cy="3418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4467"/>
          </a:xfrm>
        </p:spPr>
        <p:txBody>
          <a:bodyPr/>
          <a:lstStyle/>
          <a:p>
            <a:r>
              <a:rPr lang="en-US" b="1" dirty="0">
                <a:latin typeface="+mn-lt"/>
              </a:rPr>
              <a:t>Objectives of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7</a:t>
            </a:fld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520379" y="1399592"/>
            <a:ext cx="11466922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Understand User Queries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Utilize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NLP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 accurately interpret travel-related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questions and commands.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Personalized Recommendations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Provide tailored travel suggestions based 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 preferences and past interactions.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Multi-Step Task Assistance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Enable the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chatbot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to handle complex tasks such as booking flights, 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suggesting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itineraries, and providing travel advice.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Scalability and Efficiency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Ensure the system handles a high volume of queries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seamlessly for both individual users and organizations.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69"/>
            <a:ext cx="10515600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Methodology </a:t>
            </a:r>
            <a:r>
              <a:rPr lang="en-US" b="1" dirty="0" smtClean="0">
                <a:latin typeface="+mn-lt"/>
              </a:rPr>
              <a:t>used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9832"/>
            <a:ext cx="10515600" cy="4717131"/>
          </a:xfrm>
        </p:spPr>
        <p:txBody>
          <a:bodyPr>
            <a:normAutofit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NLP Travel Companion</a:t>
            </a:r>
            <a:r>
              <a:rPr lang="en-US" sz="2400" dirty="0"/>
              <a:t> utilizes </a:t>
            </a:r>
            <a:r>
              <a:rPr lang="en-US" sz="2400" b="1" dirty="0"/>
              <a:t>Natural Language Processing (NLP)</a:t>
            </a:r>
            <a:r>
              <a:rPr lang="en-US" sz="2400" dirty="0"/>
              <a:t> to interpret and respond to travel-related queries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 </a:t>
            </a:r>
            <a:r>
              <a:rPr lang="en-US" sz="2400" dirty="0"/>
              <a:t>Key technologies include</a:t>
            </a:r>
            <a:r>
              <a:rPr lang="en-US" sz="2400" dirty="0" smtClean="0"/>
              <a:t>:</a:t>
            </a:r>
          </a:p>
          <a:p>
            <a:endParaRPr lang="en-US" sz="2400" b="1" dirty="0"/>
          </a:p>
          <a:p>
            <a:r>
              <a:rPr lang="en-US" sz="2400" b="1" dirty="0" smtClean="0"/>
              <a:t>NLP </a:t>
            </a:r>
            <a:r>
              <a:rPr lang="en-US" sz="2400" b="1" dirty="0"/>
              <a:t>Models</a:t>
            </a:r>
            <a:r>
              <a:rPr lang="en-US" sz="2400" dirty="0"/>
              <a:t>: Utilizes advanced models like </a:t>
            </a:r>
            <a:r>
              <a:rPr lang="en-US" sz="2400" dirty="0" err="1" smtClean="0"/>
              <a:t>spaCyfor</a:t>
            </a:r>
            <a:r>
              <a:rPr lang="en-US" sz="2400" dirty="0" smtClean="0"/>
              <a:t> </a:t>
            </a:r>
            <a:r>
              <a:rPr lang="en-US" sz="2400" b="1" dirty="0"/>
              <a:t>intent recognition</a:t>
            </a:r>
            <a:r>
              <a:rPr lang="en-US" sz="2400" dirty="0"/>
              <a:t> and </a:t>
            </a:r>
            <a:r>
              <a:rPr lang="en-US" sz="2400" b="1" dirty="0"/>
              <a:t>named entity recognition (NER)</a:t>
            </a:r>
            <a:r>
              <a:rPr lang="en-US" sz="2400" dirty="0"/>
              <a:t> to understand user input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b="1" dirty="0" smtClean="0"/>
              <a:t>Machine </a:t>
            </a:r>
            <a:r>
              <a:rPr lang="en-US" sz="2400" b="1" dirty="0"/>
              <a:t>Learning</a:t>
            </a:r>
            <a:r>
              <a:rPr lang="en-US" sz="2400" dirty="0"/>
              <a:t>: Implements </a:t>
            </a:r>
            <a:r>
              <a:rPr lang="en-US" sz="2400" b="1" dirty="0"/>
              <a:t>machine learning</a:t>
            </a:r>
            <a:r>
              <a:rPr lang="en-US" sz="2400" dirty="0"/>
              <a:t> algorithms to enhance query understanding, enabling personalized travel recommendations based on user preferences.</a:t>
            </a:r>
          </a:p>
          <a:p>
            <a:pPr marL="0" indent="0" algn="just">
              <a:buNone/>
            </a:pPr>
            <a:endParaRPr lang="en-US" altLang="en-GB" sz="2400" dirty="0" smtClean="0"/>
          </a:p>
          <a:p>
            <a:pPr marL="0" indent="0" algn="just">
              <a:buNone/>
            </a:pPr>
            <a:endParaRPr lang="en-US" altLang="en-GB" sz="2400" dirty="0"/>
          </a:p>
          <a:p>
            <a:pPr marL="0" indent="0" algn="just">
              <a:buNone/>
            </a:pPr>
            <a:endParaRPr lang="en-US" altLang="en-GB" sz="2400" dirty="0" smtClean="0"/>
          </a:p>
          <a:p>
            <a:pPr marL="0" indent="0" algn="just">
              <a:buNone/>
            </a:pPr>
            <a:endParaRPr lang="en-US" alt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9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958" y="1423686"/>
            <a:ext cx="8639513" cy="54343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41157" y="520861"/>
            <a:ext cx="5741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/>
              <a:t>FLOWCHART OF PROCESS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4264930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14</TotalTime>
  <Words>612</Words>
  <Application>Microsoft Office PowerPoint</Application>
  <PresentationFormat>Widescreen</PresentationFormat>
  <Paragraphs>84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Arial</vt:lpstr>
      <vt:lpstr>Arial Unicode MS</vt:lpstr>
      <vt:lpstr>Calibri</vt:lpstr>
      <vt:lpstr>Calibri Light</vt:lpstr>
      <vt:lpstr>Casper</vt:lpstr>
      <vt:lpstr>Karla</vt:lpstr>
      <vt:lpstr>Raleway ExtraBold</vt:lpstr>
      <vt:lpstr>Roboto</vt:lpstr>
      <vt:lpstr>Times New Roman</vt:lpstr>
      <vt:lpstr>1_Office Theme</vt:lpstr>
      <vt:lpstr>2_Office Theme</vt:lpstr>
      <vt:lpstr>Contents Slide Master</vt:lpstr>
      <vt:lpstr>PowerPoint Presentation</vt:lpstr>
      <vt:lpstr>Outline</vt:lpstr>
      <vt:lpstr>Introduction to Project</vt:lpstr>
      <vt:lpstr>PowerPoint Presentation</vt:lpstr>
      <vt:lpstr>Scope of the Project</vt:lpstr>
      <vt:lpstr>Problem Formulation</vt:lpstr>
      <vt:lpstr>Objectives of the Work</vt:lpstr>
      <vt:lpstr>Methodology used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HP</cp:lastModifiedBy>
  <cp:revision>508</cp:revision>
  <dcterms:created xsi:type="dcterms:W3CDTF">2019-01-09T10:33:00Z</dcterms:created>
  <dcterms:modified xsi:type="dcterms:W3CDTF">2025-04-29T05:50:00Z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972ABE557E614A8DBF7BCDAC417CBA2E_12</vt:lpwstr>
  </property>
  <property fmtid="{D5CDD505-2E9C-101B-9397-08002B2CF9AE}" pid="3" name="KSOProductBuildVer">
    <vt:lpwstr>2057-12.2.0.20341</vt:lpwstr>
  </property>
</Properties>
</file>